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4" r:id="rId12"/>
    <p:sldId id="265" r:id="rId13"/>
    <p:sldId id="26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7699C-CAAF-B81F-3267-79C550FE8AA0}" v="72" dt="2026-02-20T03:14:58.072"/>
    <p1510:client id="{59DD1049-2F99-830A-AD48-8BF1E04C1AE7}" v="554" dt="2026-02-19T02:02:48.341"/>
    <p1510:client id="{66296E8B-6358-4B58-AA74-325870A06EAF}" v="243" dt="2026-02-18T22:13:58.632"/>
    <p1510:client id="{CE1B345C-8A8D-468B-D4BE-55CC5E62CC14}" v="177" dt="2026-02-20T05:53:29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AD3C-0288-5EFB-8819-9CADE2E27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BEFEC-2AB9-77F6-8470-B6313F818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07B8D-C920-2B9F-C6ED-69307FCE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1082D-3BF7-DDC5-244C-8B73B366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8D3FA-01B7-8370-F66F-56317BC9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AEC0E-CE93-72F3-B113-48EC32DC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DC21-B077-AA67-3BEB-60DA62A24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A78DF-0131-7922-CB7F-ED2C88CD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FB694-D5DA-A36C-33BA-13933C2E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401DF-BFA7-6C44-44FC-FB617BDB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7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A1EC-C27E-61AD-DEF4-7EFA1FAC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9FCB7-9798-4C21-719B-79D5C8382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96A80-E747-E44B-E60D-7CC00346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8226A-83E0-23A1-235E-0AC17AB3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9D4D4-5BEE-40B4-D092-7A49AE4A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36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3129-8229-E64D-EFA8-5AE54B54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0D70-3B51-6459-04C1-4C9DD6421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CBEB2-1673-11CF-4E74-C927EAAC2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C50A1-0B68-FCE3-8155-3A85BC66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5C524-54DD-A804-D8EC-13DD43BE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7951D-85C6-5572-A44A-21232C44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5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5DC7-A3DD-D878-6CB1-ACD51048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61B37-6497-9B56-86AF-AE0919A4A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87C19-D0E5-5755-AF93-F64AFBEC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07718-795B-8A95-AEF9-439F5B675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C97B9-2408-94FD-B36C-BAAF8886F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30D15-8A91-0D99-E887-FBFC45F5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890F5-6907-78E3-79FD-535D8FAA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E39B4-AA93-567A-1465-8FB4AE2E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8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888C-B411-1756-12AA-1A33F120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7038E-1B8D-E5D5-4387-63CAEF36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C5965-0066-5F8C-4F39-5B77AA63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99287-FFBB-8D60-AC21-A80D7AD4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0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1DE88-B4E8-7048-455A-7DB82C30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EC288-A8C6-31A2-5BF2-1B6BE81D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75B12-0DB0-34EB-D8C2-DD937A35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0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2453-C31D-6594-12A9-E08D7283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6C5B-7784-5667-2946-8166FAF50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BC6D5-2685-B04E-1651-7C80092B2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9B3AA-180A-7E1E-1F49-E57586FC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E9D62-6203-B2AB-95C9-0788145E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E6888-8527-2510-C15D-6E63DDDF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6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DE6B-73CF-4444-D778-5B3FF9B42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5DCA6-A460-D08F-66D4-F550603D7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52888-0DA4-30AE-0506-174B20A09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5491A-2DC9-BC06-73C1-C379F1FA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AE935-6F88-2E95-2772-E04FFE8B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608B-B5E1-A658-BFE0-1119C5D6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8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657D-09A5-C461-A97A-BF6E27F0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FEEBF-EF86-FCE2-EACB-E6F464B36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9C8D5-91A3-91DA-986E-2C22D0AB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2AB79-999F-A8D1-7DC0-581D9DAA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E2CA-A71B-F410-FC75-A5BF6AE0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8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904C3-4BA3-4D15-703B-510283A31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97098-11AA-1C29-9DF1-FCB423137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FDF92-58D0-5BBD-DE56-764D95E4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0FA6-E156-89CA-EC61-F5B1D5B0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F5BE2-E9B0-7712-AEDB-CE6325D8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A836BC-B684-6EF7-381B-4F0AB0A3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B2FC8-7D19-5310-355B-761F13DF1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FE6C3-BF39-7E8D-7189-6B5C4D10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E25E0-F7F2-4307-85F9-CAFA387CAB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25941-0994-3405-4951-0349E10CE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746D1-609B-E800-2F97-4C1E61D6D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13498-4480-4272-8065-BD1B2267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7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badguy@evil.co" TargetMode="External"/><Relationship Id="rId2" Type="http://schemas.openxmlformats.org/officeDocument/2006/relationships/hyperlink" Target="mailto:bartlettn2@spu.edu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0F8E-A297-313C-5BE7-F882117B7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Team Magenta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AB0C9-C5FF-BC4D-3B5F-395C2486F5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DB schema and SQL Queries</a:t>
            </a:r>
          </a:p>
        </p:txBody>
      </p:sp>
    </p:spTree>
    <p:extLst>
      <p:ext uri="{BB962C8B-B14F-4D97-AF65-F5344CB8AC3E}">
        <p14:creationId xmlns:p14="http://schemas.microsoft.com/office/powerpoint/2010/main" val="3309843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2C8D-E6F4-675F-D9B7-632386F0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Recap: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5976-56C3-7D45-99D3-BDA4CB77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app is an Objectives and Key Results tracker, made for businesses to manage employee projects easier.</a:t>
            </a:r>
          </a:p>
          <a:p>
            <a:r>
              <a:rPr lang="en-US"/>
              <a:t>The primary purpose of the app is to help managers track objectives, teams and results.</a:t>
            </a:r>
          </a:p>
          <a:p>
            <a:r>
              <a:rPr lang="en-US"/>
              <a:t>The secondary purpose of the app is to provide the results in an easy to understand format.</a:t>
            </a:r>
          </a:p>
        </p:txBody>
      </p:sp>
    </p:spTree>
    <p:extLst>
      <p:ext uri="{BB962C8B-B14F-4D97-AF65-F5344CB8AC3E}">
        <p14:creationId xmlns:p14="http://schemas.microsoft.com/office/powerpoint/2010/main" val="230007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2A20-A264-4F39-2554-23ACDC51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types and Relationships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C74401-3771-D71E-89A1-50B8D25AF048}"/>
              </a:ext>
            </a:extLst>
          </p:cNvPr>
          <p:cNvSpPr/>
          <p:nvPr/>
        </p:nvSpPr>
        <p:spPr>
          <a:xfrm>
            <a:off x="546185" y="2945718"/>
            <a:ext cx="2552956" cy="155263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A48D34-0CB8-7822-B95C-FD3C97E3CE18}"/>
              </a:ext>
            </a:extLst>
          </p:cNvPr>
          <p:cNvCxnSpPr>
            <a:stCxn id="4" idx="3"/>
          </p:cNvCxnSpPr>
          <p:nvPr/>
        </p:nvCxnSpPr>
        <p:spPr>
          <a:xfrm flipV="1">
            <a:off x="3099141" y="2411807"/>
            <a:ext cx="1307162" cy="1310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863602-DC24-2B30-17BE-51BD749CCEB8}"/>
              </a:ext>
            </a:extLst>
          </p:cNvPr>
          <p:cNvCxnSpPr>
            <a:stCxn id="4" idx="3"/>
          </p:cNvCxnSpPr>
          <p:nvPr/>
        </p:nvCxnSpPr>
        <p:spPr>
          <a:xfrm>
            <a:off x="3099141" y="3722038"/>
            <a:ext cx="1356258" cy="1230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BE2A863-D926-7BEA-5E4F-F13721BB9DF6}"/>
              </a:ext>
            </a:extLst>
          </p:cNvPr>
          <p:cNvSpPr/>
          <p:nvPr/>
        </p:nvSpPr>
        <p:spPr>
          <a:xfrm>
            <a:off x="4406303" y="2184741"/>
            <a:ext cx="2669557" cy="760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Employee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F8387-72AB-4FDC-8A92-136D24EB9E5C}"/>
              </a:ext>
            </a:extLst>
          </p:cNvPr>
          <p:cNvSpPr/>
          <p:nvPr/>
        </p:nvSpPr>
        <p:spPr>
          <a:xfrm>
            <a:off x="4455399" y="4620073"/>
            <a:ext cx="2669557" cy="760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Objective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1E43A6-5C4D-E256-4FB7-DA2BDFCC4C5D}"/>
              </a:ext>
            </a:extLst>
          </p:cNvPr>
          <p:cNvCxnSpPr>
            <a:stCxn id="9" idx="3"/>
          </p:cNvCxnSpPr>
          <p:nvPr/>
        </p:nvCxnSpPr>
        <p:spPr>
          <a:xfrm>
            <a:off x="7075860" y="2565230"/>
            <a:ext cx="1436038" cy="1006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F0DC8E-1E3E-F82A-0CC3-F6ADBA362BC5}"/>
              </a:ext>
            </a:extLst>
          </p:cNvPr>
          <p:cNvSpPr/>
          <p:nvPr/>
        </p:nvSpPr>
        <p:spPr>
          <a:xfrm>
            <a:off x="8511898" y="3191195"/>
            <a:ext cx="2669557" cy="7609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Key Results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2DA14C-3012-EFE9-3E53-903300B2199F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flipV="1">
            <a:off x="7124956" y="3571684"/>
            <a:ext cx="1386942" cy="1428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E8F3-FF80-0FB7-A6DC-AFD38CED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Tables: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CB27-4709-3028-DFA2-A20F752C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 CREATE TABLE IF NOT EXISTS team (</a:t>
            </a:r>
          </a:p>
          <a:p>
            <a:pPr marL="0" indent="0">
              <a:buNone/>
            </a:pPr>
            <a:r>
              <a:rPr lang="en-US" dirty="0"/>
              <a:t> </a:t>
            </a:r>
            <a:r>
              <a:rPr lang="en-US" dirty="0" err="1"/>
              <a:t>TeamID</a:t>
            </a:r>
            <a:r>
              <a:rPr lang="en-US" dirty="0"/>
              <a:t> INTEGER PRIMARY KEY AUTOINCREMENT,</a:t>
            </a:r>
          </a:p>
          <a:p>
            <a:pPr marL="0" indent="0">
              <a:buNone/>
            </a:pPr>
            <a:r>
              <a:rPr lang="en-US" dirty="0"/>
              <a:t> </a:t>
            </a:r>
            <a:r>
              <a:rPr lang="en-US" dirty="0" err="1"/>
              <a:t>TeamName</a:t>
            </a:r>
            <a:r>
              <a:rPr lang="en-US" dirty="0"/>
              <a:t> TEXT NOT NULL</a:t>
            </a:r>
          </a:p>
          <a:p>
            <a:pPr marL="0" indent="0">
              <a:buNone/>
            </a:pPr>
            <a:r>
              <a:rPr lang="en-US"/>
              <a:t> );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885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ACA-2DC3-B32F-CB7D-0FA9363D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Tables: Employee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259A-6DA8-AD2E-D9C7-0EAF576CDC0D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</a:t>
            </a:r>
            <a:r>
              <a:rPr lang="en-US" sz="1800"/>
              <a:t>CREATE TABLE IF NOT EXISTS employee (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E</a:t>
            </a:r>
            <a:r>
              <a:rPr lang="en-US" sz="1800" dirty="0" err="1"/>
              <a:t>mployeeID </a:t>
            </a:r>
            <a:r>
              <a:rPr lang="en-US" sz="1800" dirty="0"/>
              <a:t>INTEGER PRIMARY KEY AUTOINCREMENT,</a:t>
            </a:r>
          </a:p>
          <a:p>
            <a:pPr marL="0" indent="0">
              <a:buNone/>
            </a:pPr>
            <a:r>
              <a:rPr lang="en-US" sz="1800" dirty="0"/>
              <a:t>            </a:t>
            </a:r>
            <a:r>
              <a:rPr lang="en-US" sz="1800"/>
              <a:t>FirstName TEXT NOT NULL,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</a:t>
            </a:r>
            <a:r>
              <a:rPr lang="en-US" sz="1800"/>
              <a:t>LastName TEXT NOT NULL,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</a:t>
            </a:r>
            <a:r>
              <a:rPr lang="en-US" sz="1800"/>
              <a:t>EMAIL TEXT UNIQUE NOT NULL,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</a:t>
            </a:r>
            <a:r>
              <a:rPr lang="en-US" sz="1800"/>
              <a:t>Role TEXT,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H</a:t>
            </a:r>
            <a:r>
              <a:rPr lang="en-US" sz="1800" dirty="0" err="1"/>
              <a:t>ireDate </a:t>
            </a:r>
            <a:r>
              <a:rPr lang="en-US" sz="1800" dirty="0"/>
              <a:t>TEXT,</a:t>
            </a:r>
          </a:p>
          <a:p>
            <a:pPr marL="0" indent="0">
              <a:buNone/>
            </a:pPr>
            <a:r>
              <a:rPr lang="en-US" sz="1800" dirty="0"/>
              <a:t>            T</a:t>
            </a:r>
            <a:r>
              <a:rPr lang="en-US" sz="1800" dirty="0" err="1"/>
              <a:t>eamID </a:t>
            </a:r>
            <a:r>
              <a:rPr lang="en-US" sz="1800" dirty="0"/>
              <a:t>INTEGER,</a:t>
            </a:r>
          </a:p>
          <a:p>
            <a:pPr marL="0" indent="0">
              <a:buNone/>
            </a:pPr>
            <a:r>
              <a:rPr lang="en-US" sz="1800" dirty="0"/>
              <a:t>            FOREIGN KEY (T</a:t>
            </a:r>
            <a:r>
              <a:rPr lang="en-US" sz="1800" dirty="0" err="1"/>
              <a:t>eamID)</a:t>
            </a:r>
            <a:r>
              <a:rPr lang="en-US" sz="1800" dirty="0"/>
              <a:t> REFERENCES team(T</a:t>
            </a:r>
            <a:r>
              <a:rPr lang="en-US" sz="1800" dirty="0" err="1"/>
              <a:t>eamID)</a:t>
            </a:r>
          </a:p>
          <a:p>
            <a:pPr marL="0" indent="0">
              <a:buNone/>
            </a:pPr>
            <a:r>
              <a:rPr lang="en-US" sz="1800" dirty="0"/>
              <a:t>            );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13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9A1F-ACCB-4C06-1DE3-5C54DC52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B862-7CB1-58D5-21EF-0DC5FB9F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Tables: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9357-773E-090A-83EC-183F77F3D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776"/>
            <a:ext cx="10515600" cy="52347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            CREATE TABLE IF NOT EXISTS objectives (</a:t>
            </a:r>
          </a:p>
          <a:p>
            <a:pPr marL="0" indent="0">
              <a:buNone/>
            </a:pPr>
            <a:r>
              <a:rPr lang="en-US" sz="1800" dirty="0"/>
              <a:t>            O</a:t>
            </a:r>
            <a:r>
              <a:rPr lang="en-US" sz="1800" dirty="0" err="1"/>
              <a:t>bjectiveID </a:t>
            </a:r>
            <a:r>
              <a:rPr lang="en-US" sz="1800" dirty="0"/>
              <a:t>INTEGER PRIMARY KEY,</a:t>
            </a:r>
          </a:p>
          <a:p>
            <a:pPr marL="0" indent="0">
              <a:buNone/>
            </a:pPr>
            <a:r>
              <a:rPr lang="en-US" sz="1800"/>
              <a:t>            Title TEXT NOT NULL,</a:t>
            </a:r>
          </a:p>
          <a:p>
            <a:pPr marL="0" indent="0">
              <a:buNone/>
            </a:pPr>
            <a:r>
              <a:rPr lang="en-US" sz="1800"/>
              <a:t>            Description TEXT,</a:t>
            </a:r>
          </a:p>
          <a:p>
            <a:pPr marL="0" indent="0">
              <a:buNone/>
            </a:pPr>
            <a:r>
              <a:rPr lang="en-US" sz="1800"/>
              <a:t>            StartDate TEXT,</a:t>
            </a:r>
          </a:p>
          <a:p>
            <a:pPr marL="0" indent="0">
              <a:buNone/>
            </a:pPr>
            <a:r>
              <a:rPr lang="en-US" sz="1800" dirty="0"/>
              <a:t>            E</a:t>
            </a:r>
            <a:r>
              <a:rPr lang="en-US" sz="1800" dirty="0" err="1"/>
              <a:t>ndDate </a:t>
            </a:r>
            <a:r>
              <a:rPr lang="en-US" sz="1800" dirty="0"/>
              <a:t>TEXT,</a:t>
            </a:r>
          </a:p>
          <a:p>
            <a:pPr marL="0" indent="0">
              <a:buNone/>
            </a:pPr>
            <a:r>
              <a:rPr lang="en-US" sz="1800"/>
              <a:t>            Status TEXT,</a:t>
            </a:r>
          </a:p>
          <a:p>
            <a:pPr marL="0" indent="0">
              <a:buNone/>
            </a:pPr>
            <a:r>
              <a:rPr lang="en-US" sz="1800" dirty="0"/>
              <a:t>            T</a:t>
            </a:r>
            <a:r>
              <a:rPr lang="en-US" sz="1800" dirty="0" err="1"/>
              <a:t>eamID </a:t>
            </a:r>
            <a:r>
              <a:rPr lang="en-US" sz="1800" dirty="0"/>
              <a:t>INTEGER NOT NULL,</a:t>
            </a:r>
          </a:p>
          <a:p>
            <a:pPr marL="0" indent="0">
              <a:buNone/>
            </a:pPr>
            <a:r>
              <a:rPr lang="en-US" sz="1800" dirty="0"/>
              <a:t>            O</a:t>
            </a:r>
            <a:r>
              <a:rPr lang="en-US" sz="1800" dirty="0" err="1"/>
              <a:t>wnerEmployeeID </a:t>
            </a:r>
            <a:r>
              <a:rPr lang="en-US" sz="1800" dirty="0"/>
              <a:t>INTEGER,</a:t>
            </a:r>
          </a:p>
          <a:p>
            <a:pPr marL="0" indent="0">
              <a:buNone/>
            </a:pPr>
            <a:r>
              <a:rPr lang="en-US" sz="1800" dirty="0"/>
              <a:t>            FOREIGN KEY (T</a:t>
            </a:r>
            <a:r>
              <a:rPr lang="en-US" sz="1800" dirty="0" err="1"/>
              <a:t>eamID)</a:t>
            </a:r>
            <a:r>
              <a:rPr lang="en-US" sz="1800" dirty="0"/>
              <a:t> REFERENCES team(T</a:t>
            </a:r>
            <a:r>
              <a:rPr lang="en-US" sz="1800" dirty="0" err="1"/>
              <a:t>eamID)</a:t>
            </a:r>
            <a:r>
              <a:rPr lang="en-US" sz="1800" dirty="0"/>
              <a:t>,</a:t>
            </a:r>
          </a:p>
          <a:p>
            <a:pPr marL="0" indent="0">
              <a:buNone/>
            </a:pPr>
            <a:r>
              <a:rPr lang="en-US" sz="1800" dirty="0"/>
              <a:t>            FOREIGN KEY (O</a:t>
            </a:r>
            <a:r>
              <a:rPr lang="en-US" sz="1800" dirty="0" err="1"/>
              <a:t>wnerEmployeeID)</a:t>
            </a:r>
            <a:r>
              <a:rPr lang="en-US" sz="1800" dirty="0"/>
              <a:t> REFERENCES employee(E</a:t>
            </a:r>
            <a:r>
              <a:rPr lang="en-US" sz="1800" dirty="0" err="1"/>
              <a:t>mployeeID)</a:t>
            </a:r>
          </a:p>
          <a:p>
            <a:pPr marL="0" indent="0">
              <a:buNone/>
            </a:pPr>
            <a:r>
              <a:rPr lang="en-US" sz="1800" dirty="0"/>
              <a:t>            );</a:t>
            </a:r>
          </a:p>
          <a:p>
            <a:pPr marL="342900" indent="-34290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825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8B55-7C3E-B69D-175C-07444AD0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3E50-5F4B-840E-F9B5-9B15F74E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Tables: Key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E831-CB94-1386-45E2-6F77993F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523"/>
            <a:ext cx="10515600" cy="51673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   CREATE TABLE IF NOT EXISTS </a:t>
            </a:r>
            <a:r>
              <a:rPr lang="en-US" sz="1400" dirty="0" err="1"/>
              <a:t>key_results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            </a:t>
            </a:r>
            <a:r>
              <a:rPr lang="en-US" sz="1400" dirty="0" err="1"/>
              <a:t>KeyResultID</a:t>
            </a:r>
            <a:r>
              <a:rPr lang="en-US" sz="1400" dirty="0"/>
              <a:t> INTEGER PRIMARY KEY,</a:t>
            </a:r>
          </a:p>
          <a:p>
            <a:pPr marL="0" indent="0">
              <a:buNone/>
            </a:pPr>
            <a:r>
              <a:rPr lang="en-US" sz="1400" dirty="0"/>
              <a:t>            O</a:t>
            </a:r>
            <a:r>
              <a:rPr lang="en-US" sz="1400" dirty="0" err="1"/>
              <a:t>bjectiveID </a:t>
            </a:r>
            <a:r>
              <a:rPr lang="en-US" sz="1400" dirty="0"/>
              <a:t>INTEGER NOT NULL,</a:t>
            </a:r>
          </a:p>
          <a:p>
            <a:pPr marL="0" indent="0">
              <a:buNone/>
            </a:pPr>
            <a:r>
              <a:rPr lang="en-US" sz="1400"/>
              <a:t>            Title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            M</a:t>
            </a:r>
            <a:r>
              <a:rPr lang="en-US" sz="1400" dirty="0" err="1"/>
              <a:t>etricName </a:t>
            </a:r>
            <a:r>
              <a:rPr lang="en-US" sz="1400" dirty="0"/>
              <a:t>TEXT,</a:t>
            </a:r>
          </a:p>
          <a:p>
            <a:pPr marL="0" indent="0">
              <a:buNone/>
            </a:pPr>
            <a:r>
              <a:rPr lang="en-US" sz="1400" dirty="0"/>
              <a:t>            S</a:t>
            </a:r>
            <a:r>
              <a:rPr lang="en-US" sz="1400" dirty="0" err="1"/>
              <a:t>tartValue </a:t>
            </a:r>
            <a:r>
              <a:rPr lang="en-US" sz="1400" dirty="0"/>
              <a:t>REAL,</a:t>
            </a:r>
          </a:p>
          <a:p>
            <a:pPr marL="0" indent="0">
              <a:buNone/>
            </a:pPr>
            <a:r>
              <a:rPr lang="en-US" sz="1400" dirty="0"/>
              <a:t>            C</a:t>
            </a:r>
            <a:r>
              <a:rPr lang="en-US" sz="1400" dirty="0" err="1"/>
              <a:t>urrentValue </a:t>
            </a:r>
            <a:r>
              <a:rPr lang="en-US" sz="1400" dirty="0"/>
              <a:t>REAL,</a:t>
            </a:r>
          </a:p>
          <a:p>
            <a:pPr marL="0" indent="0">
              <a:buNone/>
            </a:pPr>
            <a:r>
              <a:rPr lang="en-US" sz="1400" dirty="0"/>
              <a:t>            T</a:t>
            </a:r>
            <a:r>
              <a:rPr lang="en-US" sz="1400" dirty="0" err="1"/>
              <a:t>argetValue </a:t>
            </a:r>
            <a:r>
              <a:rPr lang="en-US" sz="1400" dirty="0"/>
              <a:t>REAL,</a:t>
            </a:r>
          </a:p>
          <a:p>
            <a:pPr marL="0" indent="0">
              <a:buNone/>
            </a:pPr>
            <a:r>
              <a:rPr lang="en-US" sz="1400" dirty="0"/>
              <a:t>            M</a:t>
            </a:r>
            <a:r>
              <a:rPr lang="en-US" sz="1400" dirty="0" err="1"/>
              <a:t>axValue </a:t>
            </a:r>
            <a:r>
              <a:rPr lang="en-US" sz="1400" dirty="0"/>
              <a:t>REAL,</a:t>
            </a:r>
          </a:p>
          <a:p>
            <a:pPr marL="0" indent="0">
              <a:buNone/>
            </a:pPr>
            <a:r>
              <a:rPr lang="en-US" sz="1400"/>
              <a:t>            Unit TEXT,</a:t>
            </a:r>
            <a:endParaRPr lang="en-US" sz="1400" dirty="0"/>
          </a:p>
          <a:p>
            <a:pPr marL="0" indent="0">
              <a:buNone/>
            </a:pPr>
            <a:r>
              <a:rPr lang="en-US" sz="1400"/>
              <a:t>            StartDate TEXT,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            D</a:t>
            </a:r>
            <a:r>
              <a:rPr lang="en-US" sz="1400" dirty="0" err="1"/>
              <a:t>ueDate </a:t>
            </a:r>
            <a:r>
              <a:rPr lang="en-US" sz="1400" dirty="0"/>
              <a:t>TEXT,</a:t>
            </a:r>
          </a:p>
          <a:p>
            <a:pPr marL="0" indent="0">
              <a:buNone/>
            </a:pPr>
            <a:r>
              <a:rPr lang="en-US" sz="1400"/>
              <a:t>            Status TEXT,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            FOREIGN KEY (O</a:t>
            </a:r>
            <a:r>
              <a:rPr lang="en-US" sz="1400" dirty="0" err="1"/>
              <a:t>bjectiveID)</a:t>
            </a:r>
            <a:r>
              <a:rPr lang="en-US" sz="1400" dirty="0"/>
              <a:t> REFERENCES objectives(O</a:t>
            </a:r>
            <a:r>
              <a:rPr lang="en-US" sz="1400" dirty="0" err="1"/>
              <a:t>bjectiveID)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            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2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F242-888D-8DF0-B191-F6570BCC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Tables: Emplo</a:t>
            </a:r>
            <a:r>
              <a:rPr lang="en-US"/>
              <a:t>yee Key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BDF4-4BCA-30CA-F0E7-72A9C815A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 CREATE TABLE IF NOT EXISTS </a:t>
            </a:r>
            <a:r>
              <a:rPr lang="en-US" sz="2000" dirty="0" err="1"/>
              <a:t>employee_key_result</a:t>
            </a:r>
            <a:r>
              <a:rPr lang="en-US" sz="2000" dirty="0"/>
              <a:t> (</a:t>
            </a:r>
            <a:endParaRPr lang="en-US"/>
          </a:p>
          <a:p>
            <a:pPr marL="0" indent="0">
              <a:buNone/>
            </a:pPr>
            <a:r>
              <a:rPr lang="en-US" sz="2000" dirty="0"/>
              <a:t> </a:t>
            </a:r>
            <a:r>
              <a:rPr lang="en-US" sz="2000" dirty="0" err="1"/>
              <a:t>EmployeeID</a:t>
            </a:r>
            <a:r>
              <a:rPr lang="en-US" sz="2000" dirty="0"/>
              <a:t> INTEGER PRIMARY KEY,</a:t>
            </a:r>
          </a:p>
          <a:p>
            <a:pPr marL="0" indent="0">
              <a:buNone/>
            </a:pPr>
            <a:r>
              <a:rPr lang="en-US" sz="2000" dirty="0"/>
              <a:t> </a:t>
            </a:r>
            <a:r>
              <a:rPr lang="en-US" sz="2000" dirty="0" err="1"/>
              <a:t>KeyResultID</a:t>
            </a:r>
            <a:r>
              <a:rPr lang="en-US" sz="2000" dirty="0"/>
              <a:t> INTEGER NOT NULL,</a:t>
            </a:r>
          </a:p>
          <a:p>
            <a:pPr marL="0" indent="0">
              <a:buNone/>
            </a:pPr>
            <a:r>
              <a:rPr lang="en-US" sz="2000" dirty="0"/>
              <a:t> </a:t>
            </a:r>
            <a:r>
              <a:rPr lang="en-US" sz="2000" dirty="0" err="1"/>
              <a:t>AssignedDate</a:t>
            </a:r>
            <a:r>
              <a:rPr lang="en-US" sz="2000" dirty="0"/>
              <a:t> TEXT NOT NULL,</a:t>
            </a:r>
          </a:p>
          <a:p>
            <a:pPr marL="0" indent="0">
              <a:buNone/>
            </a:pPr>
            <a:r>
              <a:rPr lang="en-US" sz="2000"/>
              <a:t> Weight REAL,</a:t>
            </a:r>
            <a:endParaRPr lang="en-US" sz="2000" dirty="0"/>
          </a:p>
          <a:p>
            <a:pPr marL="0" indent="0">
              <a:buNone/>
            </a:pPr>
            <a:r>
              <a:rPr lang="en-US" sz="2000"/>
              <a:t> Status TEXT,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 FOREIGN KEY (</a:t>
            </a:r>
            <a:r>
              <a:rPr lang="en-US" sz="2000" dirty="0" err="1"/>
              <a:t>EmployeeID</a:t>
            </a:r>
            <a:r>
              <a:rPr lang="en-US" sz="2000" dirty="0"/>
              <a:t>) REFERENCES employee(</a:t>
            </a:r>
            <a:r>
              <a:rPr lang="en-US" sz="2000" dirty="0" err="1"/>
              <a:t>EmployeeID</a:t>
            </a:r>
            <a:r>
              <a:rPr lang="en-US" sz="2000" dirty="0"/>
              <a:t>),</a:t>
            </a:r>
          </a:p>
          <a:p>
            <a:pPr marL="0" indent="0">
              <a:buNone/>
            </a:pPr>
            <a:r>
              <a:rPr lang="en-US" sz="2000" dirty="0"/>
              <a:t> FOREIGN KEY (</a:t>
            </a:r>
            <a:r>
              <a:rPr lang="en-US" sz="2000" dirty="0" err="1"/>
              <a:t>KeyResultID</a:t>
            </a:r>
            <a:r>
              <a:rPr lang="en-US" sz="2000" dirty="0"/>
              <a:t>) REFERENCES </a:t>
            </a:r>
            <a:r>
              <a:rPr lang="en-US" sz="2000" dirty="0" err="1"/>
              <a:t>key_result</a:t>
            </a:r>
            <a:r>
              <a:rPr lang="en-US" sz="2000" dirty="0"/>
              <a:t>(</a:t>
            </a:r>
            <a:r>
              <a:rPr lang="en-US" sz="2000" dirty="0" err="1"/>
              <a:t>KeyResultID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/>
              <a:t> ); 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62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63D9-2439-CF72-9E87-FAE7ADED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9157-94AE-90BD-D92D-B5A520E4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/>
              <a:t> Create: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 INSERT INTO team (</a:t>
            </a:r>
            <a:r>
              <a:rPr lang="en-US" sz="2000" dirty="0" err="1"/>
              <a:t>TeamID</a:t>
            </a:r>
            <a:r>
              <a:rPr lang="en-US" sz="2000" dirty="0"/>
              <a:t>, </a:t>
            </a:r>
            <a:r>
              <a:rPr lang="en-US" sz="2000" dirty="0" err="1"/>
              <a:t>TeamName</a:t>
            </a:r>
            <a:r>
              <a:rPr lang="en-US" sz="2000" dirty="0"/>
              <a:t>) VALUES (11011, 'Team Magenta');</a:t>
            </a:r>
          </a:p>
          <a:p>
            <a:pPr marL="0" indent="0">
              <a:buNone/>
            </a:pPr>
            <a:r>
              <a:rPr lang="en-US" sz="2000" dirty="0"/>
              <a:t> INSERT INTO employee (</a:t>
            </a:r>
            <a:r>
              <a:rPr lang="en-US" sz="2000" dirty="0" err="1"/>
              <a:t>EmployeeID</a:t>
            </a:r>
            <a:r>
              <a:rPr lang="en-US" sz="2000" dirty="0"/>
              <a:t>, FirstName, LastName, Email, Role, </a:t>
            </a:r>
            <a:r>
              <a:rPr lang="en-US" sz="2000" dirty="0" err="1"/>
              <a:t>HireDate</a:t>
            </a:r>
            <a:r>
              <a:rPr lang="en-US" sz="2000" dirty="0"/>
              <a:t>, </a:t>
            </a:r>
            <a:r>
              <a:rPr lang="en-US" sz="2000" dirty="0" err="1"/>
              <a:t>TeamID</a:t>
            </a:r>
            <a:r>
              <a:rPr lang="en-US" sz="2000" dirty="0"/>
              <a:t>)  VALUES (1, 'Nate', ‘Bartlett’, '</a:t>
            </a:r>
            <a:r>
              <a:rPr lang="en-US" sz="2000" dirty="0">
                <a:hlinkClick r:id="rId2"/>
              </a:rPr>
              <a:t>bartlettn2@spu.edu</a:t>
            </a:r>
            <a:r>
              <a:rPr lang="en-US" sz="2000" dirty="0"/>
              <a:t>', 'Manager', '2024-01-10', 11011);</a:t>
            </a:r>
          </a:p>
          <a:p>
            <a:pPr marL="0" indent="0">
              <a:buNone/>
            </a:pPr>
            <a:r>
              <a:rPr lang="en-US" sz="2000" dirty="0"/>
              <a:t> INSERT INTO employee (</a:t>
            </a:r>
            <a:r>
              <a:rPr lang="en-US" sz="2000" dirty="0" err="1"/>
              <a:t>EmployeeID</a:t>
            </a:r>
            <a:r>
              <a:rPr lang="en-US" sz="2000" dirty="0"/>
              <a:t>, FirstName, LastName, Email, Role, </a:t>
            </a:r>
            <a:r>
              <a:rPr lang="en-US" sz="2000" dirty="0" err="1"/>
              <a:t>HireDate</a:t>
            </a:r>
            <a:r>
              <a:rPr lang="en-US" sz="2000" dirty="0"/>
              <a:t>, </a:t>
            </a:r>
            <a:r>
              <a:rPr lang="en-US" sz="2000" dirty="0" err="1"/>
              <a:t>TeamID</a:t>
            </a:r>
            <a:r>
              <a:rPr lang="en-US" sz="2000" dirty="0"/>
              <a:t>)  VALUES (13, 'Disposable', 'Grunt', '</a:t>
            </a:r>
            <a:r>
              <a:rPr lang="en-US" sz="2000" dirty="0">
                <a:hlinkClick r:id="rId3"/>
              </a:rPr>
              <a:t>badguy@evil.co</a:t>
            </a:r>
            <a:r>
              <a:rPr lang="en-US" sz="2000" dirty="0"/>
              <a:t>', 'Hired Grunt', '2026-02-20', 11011);</a:t>
            </a:r>
          </a:p>
          <a:p>
            <a:pPr marL="0" indent="0">
              <a:buNone/>
            </a:pPr>
            <a:r>
              <a:rPr lang="en-US" sz="2000" dirty="0"/>
              <a:t> INSERT INTO objective (</a:t>
            </a:r>
            <a:r>
              <a:rPr lang="en-US" sz="2000" dirty="0" err="1"/>
              <a:t>ObjectiveID</a:t>
            </a:r>
            <a:r>
              <a:rPr lang="en-US" sz="2000" dirty="0"/>
              <a:t>, Title, Description, StartDate, </a:t>
            </a:r>
            <a:r>
              <a:rPr lang="en-US" sz="2000" dirty="0" err="1"/>
              <a:t>EndDate</a:t>
            </a:r>
            <a:r>
              <a:rPr lang="en-US" sz="2000" dirty="0"/>
              <a:t>, Status, </a:t>
            </a:r>
            <a:r>
              <a:rPr lang="en-US" sz="2000" dirty="0" err="1"/>
              <a:t>TeamID</a:t>
            </a:r>
            <a:r>
              <a:rPr lang="en-US" sz="2000" dirty="0"/>
              <a:t>,  </a:t>
            </a:r>
            <a:r>
              <a:rPr lang="en-US" sz="2000" dirty="0" err="1"/>
              <a:t>OwnerEmployeeID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/>
              <a:t> VALUES (47, 'Nate's Promotion', 'Take care of the problem', '2026-02-20', '2026-02-20',  'Eliminated', 11011, 13)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944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7090-5282-19C6-80A3-0839A36F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DEBA-A281-2CDA-0EBF-90DB2015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/>
              <a:t> Read:</a:t>
            </a:r>
            <a:endParaRPr lang="en-US" sz="2000" dirty="0"/>
          </a:p>
          <a:p>
            <a:pPr marL="0" indent="0">
              <a:buNone/>
            </a:pPr>
            <a:r>
              <a:rPr lang="en-US" sz="2000"/>
              <a:t> SELECT * FROM team;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 SELECT 47 FROM objectives;</a:t>
            </a:r>
          </a:p>
          <a:p>
            <a:pPr marL="0" indent="0">
              <a:buNone/>
            </a:pPr>
            <a:r>
              <a:rPr lang="en-US" sz="2000"/>
              <a:t> Update: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 UPDATE employee SET Role = The Boss WHERE </a:t>
            </a:r>
            <a:r>
              <a:rPr lang="en-US" sz="2000" dirty="0" err="1"/>
              <a:t>EmployeeID</a:t>
            </a:r>
            <a:r>
              <a:rPr lang="en-US" sz="2000" dirty="0"/>
              <a:t> = 1;</a:t>
            </a:r>
          </a:p>
          <a:p>
            <a:pPr marL="0" indent="0">
              <a:buNone/>
            </a:pPr>
            <a:r>
              <a:rPr lang="en-US" sz="2000"/>
              <a:t> Delete: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 DELETE FROM team WHERE </a:t>
            </a:r>
            <a:r>
              <a:rPr lang="en-US" sz="2000" dirty="0" err="1"/>
              <a:t>TeamID</a:t>
            </a:r>
            <a:r>
              <a:rPr lang="en-US" sz="2000" dirty="0"/>
              <a:t> = 11011</a:t>
            </a:r>
          </a:p>
          <a:p>
            <a:pPr marL="0" indent="0">
              <a:buNone/>
            </a:pPr>
            <a:r>
              <a:rPr lang="en-US" sz="2000" dirty="0"/>
              <a:t> DELETE FROM objective WHERE </a:t>
            </a:r>
            <a:r>
              <a:rPr lang="en-US" sz="2000" dirty="0" err="1"/>
              <a:t>ObjectiveID</a:t>
            </a:r>
            <a:r>
              <a:rPr lang="en-US" sz="2000" dirty="0"/>
              <a:t> = 47</a:t>
            </a:r>
          </a:p>
          <a:p>
            <a:pPr marL="0" indent="0">
              <a:buNone/>
            </a:pPr>
            <a:r>
              <a:rPr lang="en-US" sz="2000" dirty="0"/>
              <a:t> DELETE FROM employee WHERE </a:t>
            </a:r>
            <a:r>
              <a:rPr lang="en-US" sz="2000" dirty="0" err="1"/>
              <a:t>EmployeeID</a:t>
            </a:r>
            <a:r>
              <a:rPr lang="en-US" sz="2000" dirty="0"/>
              <a:t> = 13</a:t>
            </a:r>
            <a:endParaRPr lang="en-US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631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41B7-85D4-BACC-20CF-886F7A3B4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277" y="1318052"/>
            <a:ext cx="5763815" cy="1325563"/>
          </a:xfrm>
        </p:spPr>
        <p:txBody>
          <a:bodyPr/>
          <a:lstStyle/>
          <a:p>
            <a:pPr algn="ctr"/>
            <a:r>
              <a:rPr lang="en-US"/>
              <a:t>Any Questions?</a:t>
            </a:r>
          </a:p>
        </p:txBody>
      </p:sp>
      <p:pic>
        <p:nvPicPr>
          <p:cNvPr id="1026" name="Picture 2" descr="Smiley Face Thumbs Up Stock Photos ...">
            <a:extLst>
              <a:ext uri="{FF2B5EF4-FFF2-40B4-BE49-F238E27FC236}">
                <a16:creationId xmlns:a16="http://schemas.microsoft.com/office/drawing/2014/main" id="{0E76D989-0442-22A2-EE5E-4B0828E55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182" y="2874473"/>
            <a:ext cx="27146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BB136F-D6AC-2075-32DC-6E74DDA0EE2B}"/>
              </a:ext>
            </a:extLst>
          </p:cNvPr>
          <p:cNvSpPr txBox="1"/>
          <p:nvPr/>
        </p:nvSpPr>
        <p:spPr>
          <a:xfrm>
            <a:off x="2348089" y="5858933"/>
            <a:ext cx="75014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https://github.com/JChrisMarek-edu/SPU_CSC3220_W26_Team_Magenta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0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44d877-9a1e-4db1-a983-1f21fbccc5c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E8155E300D5B4AB96453B8BD1FB58A" ma:contentTypeVersion="6" ma:contentTypeDescription="Create a new document." ma:contentTypeScope="" ma:versionID="a27804bea2337015ed116fd1bef02533">
  <xsd:schema xmlns:xsd="http://www.w3.org/2001/XMLSchema" xmlns:xs="http://www.w3.org/2001/XMLSchema" xmlns:p="http://schemas.microsoft.com/office/2006/metadata/properties" xmlns:ns3="1944d877-9a1e-4db1-a983-1f21fbccc5ca" targetNamespace="http://schemas.microsoft.com/office/2006/metadata/properties" ma:root="true" ma:fieldsID="2dda8a0cb24a283a9b31d48ff151f91d" ns3:_="">
    <xsd:import namespace="1944d877-9a1e-4db1-a983-1f21fbccc5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4d877-9a1e-4db1-a983-1f21fbccc5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8E4FB8-1811-4C46-A309-8ED5A619F1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A71C51-43CD-4B52-BDB0-CB4924563E56}">
  <ds:schemaRefs>
    <ds:schemaRef ds:uri="1944d877-9a1e-4db1-a983-1f21fbccc5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A9E7A47-DE6A-4511-8BD0-C789D0E0E554}">
  <ds:schemaRefs>
    <ds:schemaRef ds:uri="1944d877-9a1e-4db1-a983-1f21fbccc5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Team Magenta</vt:lpstr>
      <vt:lpstr>To Recap:</vt:lpstr>
      <vt:lpstr>Object types and Relationships</vt:lpstr>
      <vt:lpstr>Tables: Team</vt:lpstr>
      <vt:lpstr>Tables: Employee</vt:lpstr>
      <vt:lpstr>Tables: Objectives</vt:lpstr>
      <vt:lpstr>Tables: Key Results</vt:lpstr>
      <vt:lpstr>Tables: Employee Key Result</vt:lpstr>
      <vt:lpstr>CRUD</vt:lpstr>
      <vt:lpstr>CRUD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Bartlett, Nathanael</dc:creator>
  <cp:revision>263</cp:revision>
  <dcterms:created xsi:type="dcterms:W3CDTF">2026-02-18T20:38:30Z</dcterms:created>
  <dcterms:modified xsi:type="dcterms:W3CDTF">2026-02-20T06:18:32Z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0x01010085E8155E300D5B4AB96453B8BD1FB58A</vt:lpwstr>
  </property>
</Properties>
</file>