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5" r:id="rId12"/>
    <p:sldId id="263" r:id="rId13"/>
    <p:sldId id="264"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9720BA-2523-DB1C-346C-FF059FFEE259}" v="902" dt="2026-03-10T23:53:40.445"/>
    <p1510:client id="{63939FE5-8B83-5BC4-95C7-86910E391329}" v="117" dt="2026-03-11T04:19:54.129"/>
    <p1510:client id="{A91B7C9E-33A9-A203-0B0C-C53D08214C08}" v="51" dt="2026-03-11T04:27:36.414"/>
    <p1510:client id="{E2404E66-EF1F-462D-ACC1-F04F77FDD2B1}" v="5591" dt="2026-03-11T04:29:24.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F2B7AD74-A056-4FCA-A6BE-1E14FC4C14FA}"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4140790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B7AD74-A056-4FCA-A6BE-1E14FC4C14FA}"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2020521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B7AD74-A056-4FCA-A6BE-1E14FC4C14FA}"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2112370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F2B7AD74-A056-4FCA-A6BE-1E14FC4C14FA}" type="datetimeFigureOut">
              <a:rPr lang="en-US" smtClean="0"/>
              <a:t>3/10/2026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3970423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F2B7AD74-A056-4FCA-A6BE-1E14FC4C14FA}" type="datetimeFigureOut">
              <a:rPr lang="en-US" smtClean="0"/>
              <a:t>3/10/2026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2771428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F2B7AD74-A056-4FCA-A6BE-1E14FC4C14FA}" type="datetimeFigureOut">
              <a:rPr lang="en-US" smtClean="0"/>
              <a:t>3/10/2026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2490265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2B7AD74-A056-4FCA-A6BE-1E14FC4C14FA}"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2555004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2B7AD74-A056-4FCA-A6BE-1E14FC4C14FA}" type="datetimeFigureOut">
              <a:rPr lang="en-US" smtClean="0"/>
              <a:t>3/10/2026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269426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2B7AD74-A056-4FCA-A6BE-1E14FC4C14FA}" type="datetimeFigureOut">
              <a:rPr lang="en-US" smtClean="0"/>
              <a:t>3/10/2026</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539468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2B7AD74-A056-4FCA-A6BE-1E14FC4C14FA}"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295200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2B7AD74-A056-4FCA-A6BE-1E14FC4C14FA}"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30240E-240E-4B0C-877F-1637A5EE74F1}" type="slidenum">
              <a:rPr lang="en-US" smtClean="0"/>
              <a:t>‹#›</a:t>
            </a:fld>
            <a:endParaRPr lang="en-US"/>
          </a:p>
        </p:txBody>
      </p:sp>
    </p:spTree>
    <p:extLst>
      <p:ext uri="{BB962C8B-B14F-4D97-AF65-F5344CB8AC3E}">
        <p14:creationId xmlns:p14="http://schemas.microsoft.com/office/powerpoint/2010/main" val="3406415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2B7AD74-A056-4FCA-A6BE-1E14FC4C14FA}" type="datetimeFigureOut">
              <a:rPr lang="en-US" smtClean="0"/>
              <a:t>3/10/2026</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8630240E-240E-4B0C-877F-1637A5EE74F1}" type="slidenum">
              <a:rPr lang="en-US" smtClean="0"/>
              <a:t>‹#›</a:t>
            </a:fld>
            <a:endParaRPr lang="en-US"/>
          </a:p>
        </p:txBody>
      </p:sp>
    </p:spTree>
    <p:extLst>
      <p:ext uri="{BB962C8B-B14F-4D97-AF65-F5344CB8AC3E}">
        <p14:creationId xmlns:p14="http://schemas.microsoft.com/office/powerpoint/2010/main" val="12811315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9EB1-3498-4227-E500-9BC84594656D}"/>
              </a:ext>
            </a:extLst>
          </p:cNvPr>
          <p:cNvSpPr>
            <a:spLocks noGrp="1"/>
          </p:cNvSpPr>
          <p:nvPr>
            <p:ph type="ctrTitle"/>
          </p:nvPr>
        </p:nvSpPr>
        <p:spPr>
          <a:xfrm>
            <a:off x="2307223" y="1527585"/>
            <a:ext cx="5786232" cy="3011190"/>
          </a:xfrm>
        </p:spPr>
        <p:txBody>
          <a:bodyPr>
            <a:normAutofit/>
          </a:bodyPr>
          <a:lstStyle/>
          <a:p>
            <a:r>
              <a:rPr lang="en-US" sz="5400">
                <a:solidFill>
                  <a:schemeClr val="bg1"/>
                </a:solidFill>
                <a:latin typeface="Congenial SemiBold" panose="02000503040000020004" pitchFamily="2" charset="0"/>
              </a:rPr>
              <a:t>Team magenta presents:</a:t>
            </a:r>
            <a:br>
              <a:rPr lang="en-US" sz="5400">
                <a:solidFill>
                  <a:schemeClr val="bg1"/>
                </a:solidFill>
                <a:latin typeface="Congenial SemiBold" panose="02000503040000020004" pitchFamily="2" charset="0"/>
              </a:rPr>
            </a:br>
            <a:r>
              <a:rPr lang="en-US" sz="5400">
                <a:solidFill>
                  <a:schemeClr val="bg1"/>
                </a:solidFill>
                <a:latin typeface="Congenial SemiBold" panose="02000503040000020004" pitchFamily="2" charset="0"/>
              </a:rPr>
              <a:t>OK Results</a:t>
            </a:r>
          </a:p>
        </p:txBody>
      </p:sp>
      <p:pic>
        <p:nvPicPr>
          <p:cNvPr id="5" name="Picture 4">
            <a:extLst>
              <a:ext uri="{FF2B5EF4-FFF2-40B4-BE49-F238E27FC236}">
                <a16:creationId xmlns:a16="http://schemas.microsoft.com/office/drawing/2014/main" id="{DAA86F6D-7835-1E03-6311-F4D208BABC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0824962" y="2227108"/>
            <a:ext cx="1488028" cy="1116021"/>
          </a:xfrm>
          <a:prstGeom prst="rect">
            <a:avLst/>
          </a:prstGeom>
          <a:ln w="12700">
            <a:solidFill>
              <a:schemeClr val="bg1"/>
            </a:solidFill>
          </a:ln>
        </p:spPr>
      </p:pic>
      <p:sp>
        <p:nvSpPr>
          <p:cNvPr id="9" name="TextBox 8">
            <a:extLst>
              <a:ext uri="{FF2B5EF4-FFF2-40B4-BE49-F238E27FC236}">
                <a16:creationId xmlns:a16="http://schemas.microsoft.com/office/drawing/2014/main" id="{455CF797-7574-3A40-2B9A-DBDA508DCF5A}"/>
              </a:ext>
            </a:extLst>
          </p:cNvPr>
          <p:cNvSpPr txBox="1"/>
          <p:nvPr/>
        </p:nvSpPr>
        <p:spPr>
          <a:xfrm>
            <a:off x="10854858" y="3539627"/>
            <a:ext cx="1909071" cy="369332"/>
          </a:xfrm>
          <a:prstGeom prst="rect">
            <a:avLst/>
          </a:prstGeom>
          <a:noFill/>
        </p:spPr>
        <p:txBody>
          <a:bodyPr wrap="square" rtlCol="0">
            <a:spAutoFit/>
          </a:bodyPr>
          <a:lstStyle/>
          <a:p>
            <a:r>
              <a:rPr lang="en-US" dirty="0"/>
              <a:t>Nate Bartlett</a:t>
            </a:r>
          </a:p>
        </p:txBody>
      </p:sp>
      <p:pic>
        <p:nvPicPr>
          <p:cNvPr id="3" name="Picture 2" descr="A person with curly hair and glasses smiling&#10;&#10;AI-generated content may be incorrect.">
            <a:extLst>
              <a:ext uri="{FF2B5EF4-FFF2-40B4-BE49-F238E27FC236}">
                <a16:creationId xmlns:a16="http://schemas.microsoft.com/office/drawing/2014/main" id="{1BA33F4D-D189-E096-A84C-E6D274426727}"/>
              </a:ext>
            </a:extLst>
          </p:cNvPr>
          <p:cNvPicPr>
            <a:picLocks noChangeAspect="1"/>
          </p:cNvPicPr>
          <p:nvPr/>
        </p:nvPicPr>
        <p:blipFill>
          <a:blip r:embed="rId3"/>
          <a:stretch>
            <a:fillRect/>
          </a:stretch>
        </p:blipFill>
        <p:spPr>
          <a:xfrm>
            <a:off x="9367786" y="868101"/>
            <a:ext cx="1115010" cy="1485420"/>
          </a:xfrm>
          <a:prstGeom prst="rect">
            <a:avLst/>
          </a:prstGeom>
        </p:spPr>
      </p:pic>
      <p:sp>
        <p:nvSpPr>
          <p:cNvPr id="4" name="TextBox 3">
            <a:extLst>
              <a:ext uri="{FF2B5EF4-FFF2-40B4-BE49-F238E27FC236}">
                <a16:creationId xmlns:a16="http://schemas.microsoft.com/office/drawing/2014/main" id="{29FC57F0-0D99-827E-3FDC-A6A8C06437D9}"/>
              </a:ext>
            </a:extLst>
          </p:cNvPr>
          <p:cNvSpPr txBox="1"/>
          <p:nvPr/>
        </p:nvSpPr>
        <p:spPr>
          <a:xfrm>
            <a:off x="9365584" y="2366072"/>
            <a:ext cx="148927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J. Chris Marek</a:t>
            </a:r>
          </a:p>
        </p:txBody>
      </p:sp>
      <p:pic>
        <p:nvPicPr>
          <p:cNvPr id="6" name="Picture 5" descr="A person with curly hair and a mustache&#10;&#10;AI-generated content may be incorrect.">
            <a:extLst>
              <a:ext uri="{FF2B5EF4-FFF2-40B4-BE49-F238E27FC236}">
                <a16:creationId xmlns:a16="http://schemas.microsoft.com/office/drawing/2014/main" id="{0A8D399B-156B-8F30-DD70-785FC9C75A47}"/>
              </a:ext>
            </a:extLst>
          </p:cNvPr>
          <p:cNvPicPr>
            <a:picLocks noChangeAspect="1"/>
          </p:cNvPicPr>
          <p:nvPr/>
        </p:nvPicPr>
        <p:blipFill>
          <a:blip r:embed="rId4"/>
          <a:stretch>
            <a:fillRect/>
          </a:stretch>
        </p:blipFill>
        <p:spPr>
          <a:xfrm rot="5400000" flipV="1">
            <a:off x="9180873" y="3210846"/>
            <a:ext cx="1653049" cy="1290485"/>
          </a:xfrm>
          <a:prstGeom prst="rect">
            <a:avLst/>
          </a:prstGeom>
        </p:spPr>
      </p:pic>
      <p:sp>
        <p:nvSpPr>
          <p:cNvPr id="7" name="TextBox 6">
            <a:extLst>
              <a:ext uri="{FF2B5EF4-FFF2-40B4-BE49-F238E27FC236}">
                <a16:creationId xmlns:a16="http://schemas.microsoft.com/office/drawing/2014/main" id="{4CA57091-99DA-0E73-992A-A582168F2130}"/>
              </a:ext>
            </a:extLst>
          </p:cNvPr>
          <p:cNvSpPr txBox="1"/>
          <p:nvPr/>
        </p:nvSpPr>
        <p:spPr>
          <a:xfrm>
            <a:off x="9389806" y="4805516"/>
            <a:ext cx="130277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Samuel</a:t>
            </a:r>
          </a:p>
          <a:p>
            <a:r>
              <a:rPr lang="en-US"/>
              <a:t>Tassew</a:t>
            </a:r>
          </a:p>
        </p:txBody>
      </p:sp>
    </p:spTree>
    <p:extLst>
      <p:ext uri="{BB962C8B-B14F-4D97-AF65-F5344CB8AC3E}">
        <p14:creationId xmlns:p14="http://schemas.microsoft.com/office/powerpoint/2010/main" val="178195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34" name="Rectangle 33">
            <a:extLst>
              <a:ext uri="{FF2B5EF4-FFF2-40B4-BE49-F238E27FC236}">
                <a16:creationId xmlns:a16="http://schemas.microsoft.com/office/drawing/2014/main" id="{57F231E5-F402-49E1-82B4-C762909ED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6F0BA12B-74D1-4DB1-9A3F-C9BA27B81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762000"/>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8" name="Freeform: Shape 37">
            <a:extLst>
              <a:ext uri="{FF2B5EF4-FFF2-40B4-BE49-F238E27FC236}">
                <a16:creationId xmlns:a16="http://schemas.microsoft.com/office/drawing/2014/main" id="{515FCC40-AA93-4D3B-90D0-69BC824EA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1190517" y="1056875"/>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B4092BC-EC87-8DB6-B7C6-2DA8D1320863}"/>
              </a:ext>
            </a:extLst>
          </p:cNvPr>
          <p:cNvSpPr>
            <a:spLocks noGrp="1"/>
          </p:cNvSpPr>
          <p:nvPr>
            <p:ph type="title"/>
          </p:nvPr>
        </p:nvSpPr>
        <p:spPr>
          <a:xfrm>
            <a:off x="126239" y="2603072"/>
            <a:ext cx="3500625" cy="958574"/>
          </a:xfrm>
        </p:spPr>
        <p:txBody>
          <a:bodyPr vert="horz" lIns="91440" tIns="45720" rIns="91440" bIns="45720" rtlCol="0" anchor="b">
            <a:normAutofit/>
          </a:bodyPr>
          <a:lstStyle/>
          <a:p>
            <a:r>
              <a:rPr lang="en-US" sz="5900" spc="-100" dirty="0">
                <a:solidFill>
                  <a:schemeClr val="bg1"/>
                </a:solidFill>
                <a:latin typeface="Congenial SemiBold" panose="02000503040000020004" pitchFamily="2" charset="0"/>
              </a:rPr>
              <a:t>Overview</a:t>
            </a:r>
          </a:p>
        </p:txBody>
      </p:sp>
      <p:sp>
        <p:nvSpPr>
          <p:cNvPr id="4" name="TextBox 3">
            <a:extLst>
              <a:ext uri="{FF2B5EF4-FFF2-40B4-BE49-F238E27FC236}">
                <a16:creationId xmlns:a16="http://schemas.microsoft.com/office/drawing/2014/main" id="{D86BE49A-E3DE-30E6-81CF-A07321C665D7}"/>
              </a:ext>
            </a:extLst>
          </p:cNvPr>
          <p:cNvSpPr txBox="1"/>
          <p:nvPr/>
        </p:nvSpPr>
        <p:spPr>
          <a:xfrm>
            <a:off x="4324208" y="1852081"/>
            <a:ext cx="6584908" cy="2677656"/>
          </a:xfrm>
          <a:prstGeom prst="rect">
            <a:avLst/>
          </a:prstGeom>
          <a:noFill/>
        </p:spPr>
        <p:txBody>
          <a:bodyPr wrap="square" lIns="91440" tIns="45720" rIns="91440" bIns="45720" rtlCol="0" anchor="t">
            <a:spAutoFit/>
          </a:bodyPr>
          <a:lstStyle/>
          <a:p>
            <a:r>
              <a:rPr lang="en-US" sz="2400"/>
              <a:t>OK Results is an OKR (Objectives and key results) application, designed to streamline the process of relaying information between employers and employees. With most modern apps, some information is lost when employees report their progress, whereas our app aims to minimize that information loss, while still being user-friendly.</a:t>
            </a:r>
          </a:p>
        </p:txBody>
      </p:sp>
    </p:spTree>
    <p:extLst>
      <p:ext uri="{BB962C8B-B14F-4D97-AF65-F5344CB8AC3E}">
        <p14:creationId xmlns:p14="http://schemas.microsoft.com/office/powerpoint/2010/main" val="3936652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762000"/>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8AD1417-DAD2-3829-11E1-5EC8445B5928}"/>
              </a:ext>
            </a:extLst>
          </p:cNvPr>
          <p:cNvSpPr>
            <a:spLocks noGrp="1"/>
          </p:cNvSpPr>
          <p:nvPr>
            <p:ph type="title"/>
          </p:nvPr>
        </p:nvSpPr>
        <p:spPr>
          <a:xfrm>
            <a:off x="537218" y="1431531"/>
            <a:ext cx="2774922" cy="3491712"/>
          </a:xfrm>
        </p:spPr>
        <p:txBody>
          <a:bodyPr>
            <a:normAutofit/>
          </a:bodyPr>
          <a:lstStyle/>
          <a:p>
            <a:r>
              <a:rPr lang="en-US" dirty="0">
                <a:latin typeface="Congenial SemiBold" panose="02000503040000020004" pitchFamily="2" charset="0"/>
              </a:rPr>
              <a:t>Personal Overview</a:t>
            </a:r>
          </a:p>
        </p:txBody>
      </p:sp>
      <p:sp>
        <p:nvSpPr>
          <p:cNvPr id="3" name="Content Placeholder 2">
            <a:extLst>
              <a:ext uri="{FF2B5EF4-FFF2-40B4-BE49-F238E27FC236}">
                <a16:creationId xmlns:a16="http://schemas.microsoft.com/office/drawing/2014/main" id="{56CA6A80-88C5-1F3F-15D9-9DF7A3DFDD09}"/>
              </a:ext>
            </a:extLst>
          </p:cNvPr>
          <p:cNvSpPr>
            <a:spLocks noGrp="1"/>
          </p:cNvSpPr>
          <p:nvPr>
            <p:ph idx="1"/>
          </p:nvPr>
        </p:nvSpPr>
        <p:spPr>
          <a:xfrm>
            <a:off x="4361606" y="1683143"/>
            <a:ext cx="6627377" cy="3491713"/>
          </a:xfrm>
        </p:spPr>
        <p:txBody>
          <a:bodyPr>
            <a:normAutofit/>
          </a:bodyPr>
          <a:lstStyle/>
          <a:p>
            <a:pPr marL="0" indent="0">
              <a:buNone/>
            </a:pPr>
            <a:r>
              <a:rPr lang="en-US" sz="2400">
                <a:solidFill>
                  <a:schemeClr val="tx1"/>
                </a:solidFill>
              </a:rPr>
              <a:t>Our app was designed with business owners in mind, as we know the difficulty of project management scales exponentially with the number of employees. Our program aims to make this problem easier for business owners to handle, by condensing the information into a single database, and providing the tools necessary to track each employee’s progress without too much work.</a:t>
            </a:r>
          </a:p>
        </p:txBody>
      </p:sp>
      <p:sp>
        <p:nvSpPr>
          <p:cNvPr id="12" name="Freeform: Shape 11">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1190517" y="1056875"/>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34493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AD4738-6130-415F-BA58-176DA3000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67643AF-5083-45CE-BA04-BFB1A37D1D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464638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BBDF97F-DF5B-0278-533F-821C7604A477}"/>
              </a:ext>
            </a:extLst>
          </p:cNvPr>
          <p:cNvSpPr>
            <a:spLocks noGrp="1"/>
          </p:cNvSpPr>
          <p:nvPr>
            <p:ph type="title"/>
          </p:nvPr>
        </p:nvSpPr>
        <p:spPr>
          <a:xfrm>
            <a:off x="662787" y="2172466"/>
            <a:ext cx="2484848" cy="1749799"/>
          </a:xfrm>
        </p:spPr>
        <p:txBody>
          <a:bodyPr anchor="b">
            <a:normAutofit/>
          </a:bodyPr>
          <a:lstStyle/>
          <a:p>
            <a:pPr algn="r"/>
            <a:r>
              <a:rPr lang="en-US" sz="4000" dirty="0">
                <a:latin typeface="Congenial SemiBold" panose="02000503040000020004" pitchFamily="2" charset="0"/>
              </a:rPr>
              <a:t>Key MVP Features </a:t>
            </a:r>
          </a:p>
        </p:txBody>
      </p:sp>
      <p:sp>
        <p:nvSpPr>
          <p:cNvPr id="3" name="Content Placeholder 2">
            <a:extLst>
              <a:ext uri="{FF2B5EF4-FFF2-40B4-BE49-F238E27FC236}">
                <a16:creationId xmlns:a16="http://schemas.microsoft.com/office/drawing/2014/main" id="{01F9ED33-5CB8-ADCB-58E7-93BA6BC281A5}"/>
              </a:ext>
            </a:extLst>
          </p:cNvPr>
          <p:cNvSpPr>
            <a:spLocks noGrp="1"/>
          </p:cNvSpPr>
          <p:nvPr>
            <p:ph idx="1"/>
          </p:nvPr>
        </p:nvSpPr>
        <p:spPr>
          <a:xfrm>
            <a:off x="4969800" y="1123836"/>
            <a:ext cx="6194685" cy="4805201"/>
          </a:xfrm>
        </p:spPr>
        <p:txBody>
          <a:bodyPr anchor="t">
            <a:normAutofit/>
          </a:bodyPr>
          <a:lstStyle/>
          <a:p>
            <a:r>
              <a:rPr lang="en-US">
                <a:solidFill>
                  <a:schemeClr val="tx1"/>
                </a:solidFill>
              </a:rPr>
              <a:t>Create: Adds a new team, employee, key result, or objective to the database. Allows for full customization of values.</a:t>
            </a:r>
          </a:p>
          <a:p>
            <a:r>
              <a:rPr lang="en-US">
                <a:solidFill>
                  <a:schemeClr val="tx1"/>
                </a:solidFill>
              </a:rPr>
              <a:t>List: Provides the user with all values held in a database of their choice.</a:t>
            </a:r>
          </a:p>
          <a:p>
            <a:r>
              <a:rPr lang="en-US">
                <a:solidFill>
                  <a:schemeClr val="tx1"/>
                </a:solidFill>
              </a:rPr>
              <a:t>Update: Allows the user to change any value in the table excluding primary keys, to avoid data mix-ups.</a:t>
            </a:r>
          </a:p>
          <a:p>
            <a:r>
              <a:rPr lang="en-US">
                <a:solidFill>
                  <a:schemeClr val="tx1"/>
                </a:solidFill>
              </a:rPr>
              <a:t>Delete: Removes specified entries from the database.</a:t>
            </a:r>
          </a:p>
          <a:p>
            <a:r>
              <a:rPr lang="en-US">
                <a:solidFill>
                  <a:schemeClr val="tx1"/>
                </a:solidFill>
              </a:rPr>
              <a:t>Help: Displays all currently implemented commands, for ease of access.</a:t>
            </a:r>
          </a:p>
          <a:p>
            <a:r>
              <a:rPr lang="en-US">
                <a:solidFill>
                  <a:schemeClr val="tx1"/>
                </a:solidFill>
              </a:rPr>
              <a:t>Unimplemented: Conversion of data to spreadsheet.</a:t>
            </a:r>
          </a:p>
        </p:txBody>
      </p:sp>
      <p:sp>
        <p:nvSpPr>
          <p:cNvPr id="12" name="Rectangle 11">
            <a:extLst>
              <a:ext uri="{FF2B5EF4-FFF2-40B4-BE49-F238E27FC236}">
                <a16:creationId xmlns:a16="http://schemas.microsoft.com/office/drawing/2014/main" id="{CC7E0005-C596-4A5C-BAFA-6C5CFA03A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14069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C898-BCE1-8B4F-8CE2-4159A283B5A9}"/>
              </a:ext>
            </a:extLst>
          </p:cNvPr>
          <p:cNvSpPr>
            <a:spLocks noGrp="1"/>
          </p:cNvSpPr>
          <p:nvPr>
            <p:ph type="title"/>
          </p:nvPr>
        </p:nvSpPr>
        <p:spPr/>
        <p:txBody>
          <a:bodyPr/>
          <a:lstStyle/>
          <a:p>
            <a:r>
              <a:rPr lang="en-US">
                <a:latin typeface="Congenial SemiBold" panose="02000503040000020004" pitchFamily="2" charset="0"/>
              </a:rPr>
              <a:t>Tech Stack</a:t>
            </a:r>
          </a:p>
        </p:txBody>
      </p:sp>
      <p:sp>
        <p:nvSpPr>
          <p:cNvPr id="3" name="Content Placeholder 2">
            <a:extLst>
              <a:ext uri="{FF2B5EF4-FFF2-40B4-BE49-F238E27FC236}">
                <a16:creationId xmlns:a16="http://schemas.microsoft.com/office/drawing/2014/main" id="{FA19A477-A8DA-27D4-9E70-75C882A27391}"/>
              </a:ext>
            </a:extLst>
          </p:cNvPr>
          <p:cNvSpPr>
            <a:spLocks noGrp="1"/>
          </p:cNvSpPr>
          <p:nvPr>
            <p:ph idx="1"/>
          </p:nvPr>
        </p:nvSpPr>
        <p:spPr/>
        <p:txBody>
          <a:bodyPr/>
          <a:lstStyle/>
          <a:p>
            <a:pPr marL="0" indent="0">
              <a:buNone/>
            </a:pPr>
            <a:r>
              <a:rPr lang="en-US"/>
              <a:t>Tools Used:</a:t>
            </a:r>
          </a:p>
          <a:p>
            <a:r>
              <a:rPr lang="en-US"/>
              <a:t>SQLite-The database used by the app.</a:t>
            </a:r>
          </a:p>
          <a:p>
            <a:r>
              <a:rPr lang="en-US" err="1"/>
              <a:t>SQLiteStudio</a:t>
            </a:r>
            <a:r>
              <a:rPr lang="en-US"/>
              <a:t>-Allows us to view the data in real time.</a:t>
            </a:r>
          </a:p>
          <a:p>
            <a:r>
              <a:rPr lang="en-US"/>
              <a:t>ChatGPT-Used for debugging, and for the method that handles SQL errors.</a:t>
            </a:r>
          </a:p>
          <a:p>
            <a:r>
              <a:rPr lang="en-US"/>
              <a:t>Gemini- Used for creating the wireframe</a:t>
            </a:r>
          </a:p>
          <a:p>
            <a:r>
              <a:rPr lang="en-US" err="1"/>
              <a:t>VSCode</a:t>
            </a:r>
            <a:r>
              <a:rPr lang="en-US"/>
              <a:t>-The IDE used to design the app.</a:t>
            </a:r>
          </a:p>
        </p:txBody>
      </p:sp>
    </p:spTree>
    <p:extLst>
      <p:ext uri="{BB962C8B-B14F-4D97-AF65-F5344CB8AC3E}">
        <p14:creationId xmlns:p14="http://schemas.microsoft.com/office/powerpoint/2010/main" val="806756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2" name="Rectangle 11">
            <a:extLst>
              <a:ext uri="{FF2B5EF4-FFF2-40B4-BE49-F238E27FC236}">
                <a16:creationId xmlns:a16="http://schemas.microsoft.com/office/drawing/2014/main" id="{2F4AD318-2FB6-4C6E-931E-58E404FA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A118E35-1CBF-4863-8497-F4DF1A166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 y="752748"/>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Freeform: Shape 15">
            <a:extLst>
              <a:ext uri="{FF2B5EF4-FFF2-40B4-BE49-F238E27FC236}">
                <a16:creationId xmlns:a16="http://schemas.microsoft.com/office/drawing/2014/main" id="{6E187274-5DC2-4BE0-AF99-925D6D973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7094" y="761999"/>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6554C28-378D-EC7D-1BA5-27A9FF92CF21}"/>
              </a:ext>
            </a:extLst>
          </p:cNvPr>
          <p:cNvSpPr>
            <a:spLocks noGrp="1"/>
          </p:cNvSpPr>
          <p:nvPr>
            <p:ph type="title"/>
          </p:nvPr>
        </p:nvSpPr>
        <p:spPr>
          <a:xfrm>
            <a:off x="2147920" y="1654389"/>
            <a:ext cx="5590727" cy="2082991"/>
          </a:xfrm>
        </p:spPr>
        <p:txBody>
          <a:bodyPr vert="horz" lIns="91440" tIns="45720" rIns="91440" bIns="45720" rtlCol="0" anchor="b">
            <a:normAutofit/>
          </a:bodyPr>
          <a:lstStyle/>
          <a:p>
            <a:pPr algn="r"/>
            <a:r>
              <a:rPr lang="en-US" sz="5900" spc="-100">
                <a:solidFill>
                  <a:schemeClr val="accent1"/>
                </a:solidFill>
                <a:latin typeface="Congenial SemiBold" panose="02000503040000020004" pitchFamily="2" charset="0"/>
              </a:rPr>
              <a:t>Demonstration</a:t>
            </a:r>
          </a:p>
        </p:txBody>
      </p:sp>
    </p:spTree>
    <p:extLst>
      <p:ext uri="{BB962C8B-B14F-4D97-AF65-F5344CB8AC3E}">
        <p14:creationId xmlns:p14="http://schemas.microsoft.com/office/powerpoint/2010/main" val="3796304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10905976"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D56F136-655B-4592-8549-954B44390C74}"/>
              </a:ext>
            </a:extLst>
          </p:cNvPr>
          <p:cNvSpPr>
            <a:spLocks noGrp="1"/>
          </p:cNvSpPr>
          <p:nvPr>
            <p:ph type="title"/>
          </p:nvPr>
        </p:nvSpPr>
        <p:spPr>
          <a:xfrm>
            <a:off x="1600754" y="1087374"/>
            <a:ext cx="8983489" cy="1000978"/>
          </a:xfrm>
        </p:spPr>
        <p:txBody>
          <a:bodyPr>
            <a:normAutofit/>
          </a:bodyPr>
          <a:lstStyle/>
          <a:p>
            <a:r>
              <a:rPr lang="en-US" err="1">
                <a:latin typeface="Congenial SemiBold" panose="02000503040000020004" pitchFamily="2" charset="0"/>
              </a:rPr>
              <a:t>Moodboard</a:t>
            </a:r>
            <a:r>
              <a:rPr lang="en-US">
                <a:latin typeface="Congenial SemiBold" panose="02000503040000020004" pitchFamily="2" charset="0"/>
              </a:rPr>
              <a:t> and Wireframe</a:t>
            </a:r>
          </a:p>
        </p:txBody>
      </p:sp>
      <p:sp>
        <p:nvSpPr>
          <p:cNvPr id="12" name="Rectangle 1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4533" y="758952"/>
            <a:ext cx="1185379"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 y="2526526"/>
            <a:ext cx="1169701"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9019" y="2526526"/>
            <a:ext cx="10920893"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9" name="Picture 18">
            <a:extLst>
              <a:ext uri="{FF2B5EF4-FFF2-40B4-BE49-F238E27FC236}">
                <a16:creationId xmlns:a16="http://schemas.microsoft.com/office/drawing/2014/main" id="{3DBE9256-34DD-05EF-3CEF-A3815FB003D3}"/>
              </a:ext>
            </a:extLst>
          </p:cNvPr>
          <p:cNvPicPr>
            <a:picLocks noChangeAspect="1"/>
          </p:cNvPicPr>
          <p:nvPr/>
        </p:nvPicPr>
        <p:blipFill>
          <a:blip r:embed="rId2"/>
          <a:stretch>
            <a:fillRect/>
          </a:stretch>
        </p:blipFill>
        <p:spPr>
          <a:xfrm>
            <a:off x="0" y="14011"/>
            <a:ext cx="12192000" cy="6829977"/>
          </a:xfrm>
          <a:prstGeom prst="rect">
            <a:avLst/>
          </a:prstGeom>
        </p:spPr>
      </p:pic>
    </p:spTree>
    <p:extLst>
      <p:ext uri="{BB962C8B-B14F-4D97-AF65-F5344CB8AC3E}">
        <p14:creationId xmlns:p14="http://schemas.microsoft.com/office/powerpoint/2010/main" val="2093607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04F1E-CD90-5C9F-2F67-3250F59745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35CD9A-A59A-A87E-C084-37B596DC559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011FCE0-A26C-4C15-A022-D289E12D4BE3}"/>
              </a:ext>
            </a:extLst>
          </p:cNvPr>
          <p:cNvPicPr>
            <a:picLocks noChangeAspect="1"/>
          </p:cNvPicPr>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853862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2902A-FA5D-45A8-81EE-4342D330F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2B538A-2A50-48E0-89A4-F2D2EEB12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7030" y="-5522982"/>
            <a:ext cx="384048" cy="1143001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319273A-84F0-4EF0-9ABB-6725351DB0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28428" y="272368"/>
            <a:ext cx="1741251" cy="11430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C7F3E00-EDEC-62E1-CC70-A48DD77353FE}"/>
              </a:ext>
            </a:extLst>
          </p:cNvPr>
          <p:cNvSpPr>
            <a:spLocks noGrp="1"/>
          </p:cNvSpPr>
          <p:nvPr>
            <p:ph type="title"/>
          </p:nvPr>
        </p:nvSpPr>
        <p:spPr>
          <a:xfrm>
            <a:off x="643467" y="5281127"/>
            <a:ext cx="10905066" cy="938698"/>
          </a:xfrm>
        </p:spPr>
        <p:txBody>
          <a:bodyPr>
            <a:normAutofit/>
          </a:bodyPr>
          <a:lstStyle/>
          <a:p>
            <a:pPr algn="ctr"/>
            <a:r>
              <a:rPr lang="en-US">
                <a:latin typeface="Congenial SemiBold" panose="02000503040000020004" pitchFamily="2" charset="0"/>
              </a:rPr>
              <a:t>Team Dynamics</a:t>
            </a:r>
          </a:p>
        </p:txBody>
      </p:sp>
      <p:sp>
        <p:nvSpPr>
          <p:cNvPr id="3" name="Content Placeholder 2">
            <a:extLst>
              <a:ext uri="{FF2B5EF4-FFF2-40B4-BE49-F238E27FC236}">
                <a16:creationId xmlns:a16="http://schemas.microsoft.com/office/drawing/2014/main" id="{8E2C7B68-DC98-EECD-7328-F0BEF1C5C7EF}"/>
              </a:ext>
            </a:extLst>
          </p:cNvPr>
          <p:cNvSpPr>
            <a:spLocks noGrp="1"/>
          </p:cNvSpPr>
          <p:nvPr>
            <p:ph idx="1"/>
          </p:nvPr>
        </p:nvSpPr>
        <p:spPr>
          <a:xfrm>
            <a:off x="643467" y="864108"/>
            <a:ext cx="10905066" cy="3785689"/>
          </a:xfrm>
        </p:spPr>
        <p:txBody>
          <a:bodyPr>
            <a:normAutofit/>
          </a:bodyPr>
          <a:lstStyle/>
          <a:p>
            <a:pPr marL="0" indent="0">
              <a:buNone/>
            </a:pPr>
            <a:r>
              <a:rPr lang="en-US">
                <a:latin typeface="Congenial SemiBold" panose="02000503040000020004" pitchFamily="2" charset="0"/>
              </a:rPr>
              <a:t>Over the course of the quarter, each member of our team put in a ton of work on getting our app to a functional state, as well as presenting our plans and efforts to the class.</a:t>
            </a:r>
          </a:p>
          <a:p>
            <a:r>
              <a:rPr lang="en-US">
                <a:latin typeface="Congenial SemiBold"/>
              </a:rPr>
              <a:t>Nate wrote the code that connected the app to the database, setting up the tables, and programmed the create and delete functions.</a:t>
            </a:r>
          </a:p>
          <a:p>
            <a:r>
              <a:rPr lang="en-US">
                <a:latin typeface="Congenial SemiBold"/>
              </a:rPr>
              <a:t>J. </a:t>
            </a:r>
            <a:r>
              <a:rPr lang="en-US">
                <a:latin typeface="Congenial SemiBold" panose="02000503040000020004" pitchFamily="2" charset="0"/>
              </a:rPr>
              <a:t>Chris wrote the code </a:t>
            </a:r>
            <a:r>
              <a:rPr lang="en-US">
                <a:latin typeface="Congenial SemiBold"/>
              </a:rPr>
              <a:t>for the update and select functions. Created the navigation diagram and helped with prepping all the presentations </a:t>
            </a:r>
            <a:endParaRPr lang="en-US">
              <a:latin typeface="Congenial SemiBold" panose="02000503040000020004" pitchFamily="2" charset="0"/>
            </a:endParaRPr>
          </a:p>
          <a:p>
            <a:r>
              <a:rPr lang="en-US">
                <a:latin typeface="Congenial SemiBold"/>
                <a:ea typeface="+mn-lt"/>
                <a:cs typeface="+mn-lt"/>
              </a:rPr>
              <a:t>Samuel came up with the original concept for the app, created the wireframe, and handled most of the project presentations.</a:t>
            </a:r>
          </a:p>
          <a:p>
            <a:pPr marL="0" indent="0">
              <a:buNone/>
            </a:pPr>
            <a:r>
              <a:rPr lang="en-US">
                <a:latin typeface="Congenial SemiBold"/>
              </a:rPr>
              <a:t>Overall, the group work went smoothly, and we were able to produce something we are all proud of. Communication between members was difficult at times but everyone did take part at least partially every step of the way.</a:t>
            </a:r>
            <a:endParaRPr lang="en-US">
              <a:latin typeface="Congenial SemiBold" panose="02000503040000020004" pitchFamily="2" charset="0"/>
            </a:endParaRPr>
          </a:p>
          <a:p>
            <a:endParaRPr lang="en-US">
              <a:latin typeface="Congenial SemiBold" panose="02000503040000020004" pitchFamily="2" charset="0"/>
            </a:endParaRPr>
          </a:p>
        </p:txBody>
      </p:sp>
    </p:spTree>
    <p:extLst>
      <p:ext uri="{BB962C8B-B14F-4D97-AF65-F5344CB8AC3E}">
        <p14:creationId xmlns:p14="http://schemas.microsoft.com/office/powerpoint/2010/main" val="220222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6729" y="757325"/>
            <a:ext cx="3549144"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75E8C-9251-B532-4556-520B47EBB1DF}"/>
              </a:ext>
            </a:extLst>
          </p:cNvPr>
          <p:cNvSpPr>
            <a:spLocks noGrp="1"/>
          </p:cNvSpPr>
          <p:nvPr>
            <p:ph type="title"/>
          </p:nvPr>
        </p:nvSpPr>
        <p:spPr>
          <a:xfrm>
            <a:off x="8714904" y="2513031"/>
            <a:ext cx="3158886" cy="1566897"/>
          </a:xfrm>
        </p:spPr>
        <p:txBody>
          <a:bodyPr>
            <a:normAutofit/>
          </a:bodyPr>
          <a:lstStyle/>
          <a:p>
            <a:r>
              <a:rPr lang="en-US" dirty="0">
                <a:latin typeface="Congenial SemiBold" panose="02000503040000020004" pitchFamily="2" charset="0"/>
              </a:rPr>
              <a:t>Project Takeaways</a:t>
            </a:r>
          </a:p>
        </p:txBody>
      </p:sp>
      <p:sp>
        <p:nvSpPr>
          <p:cNvPr id="39" name="Rectangle 38">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406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TextBox 5">
            <a:extLst>
              <a:ext uri="{FF2B5EF4-FFF2-40B4-BE49-F238E27FC236}">
                <a16:creationId xmlns:a16="http://schemas.microsoft.com/office/drawing/2014/main" id="{9DA3C021-FCC5-7C7A-6289-E78031B4C70A}"/>
              </a:ext>
            </a:extLst>
          </p:cNvPr>
          <p:cNvSpPr txBox="1"/>
          <p:nvPr/>
        </p:nvSpPr>
        <p:spPr>
          <a:xfrm>
            <a:off x="5491748" y="757324"/>
            <a:ext cx="2638873" cy="5078313"/>
          </a:xfrm>
          <a:prstGeom prst="rect">
            <a:avLst/>
          </a:prstGeom>
          <a:noFill/>
          <a:ln>
            <a:solidFill>
              <a:schemeClr val="tx1"/>
            </a:solidFill>
          </a:ln>
        </p:spPr>
        <p:txBody>
          <a:bodyPr wrap="square" rtlCol="0">
            <a:spAutoFit/>
          </a:bodyPr>
          <a:lstStyle/>
          <a:p>
            <a:r>
              <a:rPr lang="en-US">
                <a:latin typeface="Congenial SemiBold" panose="02000503040000020004" pitchFamily="2" charset="0"/>
              </a:rPr>
              <a:t>Nate:</a:t>
            </a:r>
          </a:p>
          <a:p>
            <a:pPr marL="285750" indent="-285750">
              <a:buFont typeface="Arial" panose="020B0604020202020204" pitchFamily="34" charset="0"/>
              <a:buChar char="•"/>
            </a:pPr>
            <a:r>
              <a:rPr lang="en-US">
                <a:latin typeface="Congenial SemiBold" panose="02000503040000020004" pitchFamily="2" charset="0"/>
              </a:rPr>
              <a:t>I learned that coding in a group environment makes everything a lot easier to manage.</a:t>
            </a:r>
          </a:p>
          <a:p>
            <a:pPr marL="285750" indent="-285750">
              <a:buFont typeface="Arial" panose="020B0604020202020204" pitchFamily="34" charset="0"/>
              <a:buChar char="•"/>
            </a:pPr>
            <a:endParaRPr lang="en-US">
              <a:latin typeface="Congenial SemiBold" panose="02000503040000020004" pitchFamily="2" charset="0"/>
            </a:endParaRPr>
          </a:p>
          <a:p>
            <a:pPr marL="285750" indent="-285750">
              <a:buFont typeface="Arial" panose="020B0604020202020204" pitchFamily="34" charset="0"/>
              <a:buChar char="•"/>
            </a:pPr>
            <a:r>
              <a:rPr lang="en-US">
                <a:latin typeface="Congenial SemiBold" panose="02000503040000020004" pitchFamily="2" charset="0"/>
              </a:rPr>
              <a:t>I learned how SQL works, and how to properly implement it in future projects.</a:t>
            </a:r>
          </a:p>
          <a:p>
            <a:pPr marL="285750" indent="-285750">
              <a:buFont typeface="Arial" panose="020B0604020202020204" pitchFamily="34" charset="0"/>
              <a:buChar char="•"/>
            </a:pPr>
            <a:endParaRPr lang="en-US">
              <a:latin typeface="Congenial SemiBold" panose="02000503040000020004" pitchFamily="2" charset="0"/>
            </a:endParaRPr>
          </a:p>
          <a:p>
            <a:pPr marL="285750" indent="-285750">
              <a:buFont typeface="Arial" panose="020B0604020202020204" pitchFamily="34" charset="0"/>
              <a:buChar char="•"/>
            </a:pPr>
            <a:r>
              <a:rPr lang="en-US">
                <a:latin typeface="Congenial SemiBold" panose="02000503040000020004" pitchFamily="2" charset="0"/>
              </a:rPr>
              <a:t>I learned the importance of mood boards, especially when applied to other mediums, like art.</a:t>
            </a:r>
          </a:p>
        </p:txBody>
      </p:sp>
      <p:sp>
        <p:nvSpPr>
          <p:cNvPr id="3" name="TextBox 2">
            <a:extLst>
              <a:ext uri="{FF2B5EF4-FFF2-40B4-BE49-F238E27FC236}">
                <a16:creationId xmlns:a16="http://schemas.microsoft.com/office/drawing/2014/main" id="{F8BF4B34-A83F-0B94-1516-9C49F6118B0C}"/>
              </a:ext>
            </a:extLst>
          </p:cNvPr>
          <p:cNvSpPr txBox="1"/>
          <p:nvPr/>
        </p:nvSpPr>
        <p:spPr>
          <a:xfrm>
            <a:off x="2762842" y="757324"/>
            <a:ext cx="2638873" cy="5632311"/>
          </a:xfrm>
          <a:prstGeom prst="rect">
            <a:avLst/>
          </a:prstGeom>
          <a:noFill/>
          <a:ln>
            <a:solidFill>
              <a:schemeClr val="tx1"/>
            </a:solidFill>
          </a:ln>
        </p:spPr>
        <p:txBody>
          <a:bodyPr wrap="square" lIns="91440" tIns="45720" rIns="91440" bIns="45720" rtlCol="0" anchor="t">
            <a:spAutoFit/>
          </a:bodyPr>
          <a:lstStyle/>
          <a:p>
            <a:r>
              <a:rPr lang="en-US">
                <a:latin typeface="Congenial SemiBold"/>
              </a:rPr>
              <a:t>J. Chris:</a:t>
            </a:r>
          </a:p>
          <a:p>
            <a:pPr marL="285750" indent="-285750">
              <a:buFont typeface="Arial"/>
              <a:buChar char="•"/>
            </a:pPr>
            <a:r>
              <a:rPr lang="en-US">
                <a:latin typeface="Congenial SemiBold"/>
              </a:rPr>
              <a:t>I learned how to implement and use SQL databases</a:t>
            </a:r>
          </a:p>
          <a:p>
            <a:pPr marL="285750" indent="-285750">
              <a:buFont typeface="Arial"/>
              <a:buChar char="•"/>
            </a:pPr>
            <a:endParaRPr lang="en-US">
              <a:latin typeface="Congenial SemiBold"/>
            </a:endParaRPr>
          </a:p>
          <a:p>
            <a:pPr marL="285750" indent="-285750">
              <a:buFont typeface="Arial"/>
              <a:buChar char="•"/>
            </a:pPr>
            <a:r>
              <a:rPr lang="en-US">
                <a:latin typeface="Congenial SemiBold"/>
              </a:rPr>
              <a:t>I learned how to construct a framework on which an application can be built (ERD, Wireframe, etc.)</a:t>
            </a:r>
          </a:p>
          <a:p>
            <a:pPr marL="285750" indent="-285750">
              <a:buFont typeface="Arial"/>
              <a:buChar char="•"/>
            </a:pPr>
            <a:endParaRPr lang="en-US">
              <a:latin typeface="Congenial SemiBold"/>
            </a:endParaRPr>
          </a:p>
          <a:p>
            <a:pPr marL="285750" indent="-285750">
              <a:buFont typeface="Arial"/>
              <a:buChar char="•"/>
            </a:pPr>
            <a:r>
              <a:rPr lang="en-US">
                <a:latin typeface="Congenial SemiBold"/>
              </a:rPr>
              <a:t>I learned that taking application design step-by-step provides a clear vision of what that application will become </a:t>
            </a:r>
          </a:p>
        </p:txBody>
      </p:sp>
      <p:sp>
        <p:nvSpPr>
          <p:cNvPr id="4" name="TextBox 3">
            <a:extLst>
              <a:ext uri="{FF2B5EF4-FFF2-40B4-BE49-F238E27FC236}">
                <a16:creationId xmlns:a16="http://schemas.microsoft.com/office/drawing/2014/main" id="{76E4C679-83CE-EA12-4217-4E37C6D549D0}"/>
              </a:ext>
            </a:extLst>
          </p:cNvPr>
          <p:cNvSpPr txBox="1"/>
          <p:nvPr/>
        </p:nvSpPr>
        <p:spPr>
          <a:xfrm>
            <a:off x="33936" y="757324"/>
            <a:ext cx="2638873" cy="6186309"/>
          </a:xfrm>
          <a:prstGeom prst="rect">
            <a:avLst/>
          </a:prstGeom>
          <a:noFill/>
          <a:ln>
            <a:solidFill>
              <a:schemeClr val="tx1"/>
            </a:solidFill>
          </a:ln>
        </p:spPr>
        <p:txBody>
          <a:bodyPr wrap="square" lIns="91440" tIns="45720" rIns="91440" bIns="45720" rtlCol="0" anchor="t">
            <a:spAutoFit/>
          </a:bodyPr>
          <a:lstStyle/>
          <a:p>
            <a:r>
              <a:rPr lang="en-US">
                <a:latin typeface="Congenial SemiBold"/>
              </a:rPr>
              <a:t>T. Samuel</a:t>
            </a:r>
          </a:p>
          <a:p>
            <a:pPr>
              <a:buFont typeface="Arial"/>
              <a:buChar char="•"/>
            </a:pPr>
            <a:r>
              <a:rPr lang="en-US">
                <a:latin typeface="Congenial SemiBold"/>
                <a:ea typeface="+mn-lt"/>
                <a:cs typeface="+mn-lt"/>
              </a:rPr>
              <a:t>I learned how important the initial idea and concept development are when starting an application.</a:t>
            </a:r>
          </a:p>
          <a:p>
            <a:endParaRPr lang="en-US">
              <a:latin typeface="Congenial SemiBold"/>
              <a:ea typeface="+mn-lt"/>
              <a:cs typeface="+mn-lt"/>
            </a:endParaRPr>
          </a:p>
          <a:p>
            <a:pPr>
              <a:buFont typeface="Arial"/>
              <a:buChar char="•"/>
            </a:pPr>
            <a:r>
              <a:rPr lang="en-US">
                <a:latin typeface="Congenial SemiBold"/>
                <a:ea typeface="+mn-lt"/>
                <a:cs typeface="+mn-lt"/>
              </a:rPr>
              <a:t>I learned how to communicate technical ideas clearly when presenting a project to others.</a:t>
            </a:r>
          </a:p>
          <a:p>
            <a:endParaRPr lang="en-US">
              <a:latin typeface="Congenial SemiBold"/>
              <a:ea typeface="+mn-lt"/>
              <a:cs typeface="+mn-lt"/>
            </a:endParaRPr>
          </a:p>
          <a:p>
            <a:pPr>
              <a:buFont typeface="Arial"/>
              <a:buChar char="•"/>
            </a:pPr>
            <a:r>
              <a:rPr lang="en-US">
                <a:latin typeface="Congenial SemiBold"/>
                <a:ea typeface="+mn-lt"/>
                <a:cs typeface="+mn-lt"/>
              </a:rPr>
              <a:t>I learned how planning and organizing a project helps guide the development process even before coding begins.</a:t>
            </a:r>
          </a:p>
          <a:p>
            <a:pPr marL="285750" indent="-285750">
              <a:buFont typeface="Arial"/>
              <a:buChar char="•"/>
            </a:pPr>
            <a:endParaRPr lang="en-US">
              <a:latin typeface="Congenial SemiBold" panose="02000503040000020004" pitchFamily="2" charset="0"/>
            </a:endParaRPr>
          </a:p>
        </p:txBody>
      </p:sp>
    </p:spTree>
    <p:extLst>
      <p:ext uri="{BB962C8B-B14F-4D97-AF65-F5344CB8AC3E}">
        <p14:creationId xmlns:p14="http://schemas.microsoft.com/office/powerpoint/2010/main" val="3014778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B78DA-F636-AE1D-994E-26F8B3D9F915}"/>
              </a:ext>
            </a:extLst>
          </p:cNvPr>
          <p:cNvSpPr>
            <a:spLocks noGrp="1"/>
          </p:cNvSpPr>
          <p:nvPr>
            <p:ph type="title"/>
          </p:nvPr>
        </p:nvSpPr>
        <p:spPr>
          <a:xfrm>
            <a:off x="1030159" y="2779777"/>
            <a:ext cx="1457009" cy="1106424"/>
          </a:xfrm>
        </p:spPr>
        <p:txBody>
          <a:bodyPr/>
          <a:lstStyle/>
          <a:p>
            <a:r>
              <a:rPr lang="en-US"/>
              <a:t>Q&amp;A</a:t>
            </a:r>
          </a:p>
        </p:txBody>
      </p:sp>
    </p:spTree>
    <p:extLst>
      <p:ext uri="{BB962C8B-B14F-4D97-AF65-F5344CB8AC3E}">
        <p14:creationId xmlns:p14="http://schemas.microsoft.com/office/powerpoint/2010/main" val="3466345171"/>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944d877-9a1e-4db1-a983-1f21fbccc5c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5E8155E300D5B4AB96453B8BD1FB58A" ma:contentTypeVersion="6" ma:contentTypeDescription="Create a new document." ma:contentTypeScope="" ma:versionID="a27804bea2337015ed116fd1bef02533">
  <xsd:schema xmlns:xsd="http://www.w3.org/2001/XMLSchema" xmlns:xs="http://www.w3.org/2001/XMLSchema" xmlns:p="http://schemas.microsoft.com/office/2006/metadata/properties" xmlns:ns3="1944d877-9a1e-4db1-a983-1f21fbccc5ca" targetNamespace="http://schemas.microsoft.com/office/2006/metadata/properties" ma:root="true" ma:fieldsID="2dda8a0cb24a283a9b31d48ff151f91d" ns3:_="">
    <xsd:import namespace="1944d877-9a1e-4db1-a983-1f21fbccc5c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44d877-9a1e-4db1-a983-1f21fbccc5c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7CB1A2-BF38-4786-88A1-03DBEB0EC2BE}">
  <ds:schemaRefs>
    <ds:schemaRef ds:uri="http://schemas.microsoft.com/office/2006/metadata/properties"/>
    <ds:schemaRef ds:uri="http://schemas.microsoft.com/office/2006/documentManagement/types"/>
    <ds:schemaRef ds:uri="http://purl.org/dc/terms/"/>
    <ds:schemaRef ds:uri="1944d877-9a1e-4db1-a983-1f21fbccc5ca"/>
    <ds:schemaRef ds:uri="http://schemas.openxmlformats.org/package/2006/metadata/core-properties"/>
    <ds:schemaRef ds:uri="http://schemas.microsoft.com/office/infopath/2007/PartnerControls"/>
    <ds:schemaRef ds:uri="http://www.w3.org/XML/1998/namespace"/>
    <ds:schemaRef ds:uri="http://purl.org/dc/dcmitype/"/>
    <ds:schemaRef ds:uri="http://purl.org/dc/elements/1.1/"/>
  </ds:schemaRefs>
</ds:datastoreItem>
</file>

<file path=customXml/itemProps2.xml><?xml version="1.0" encoding="utf-8"?>
<ds:datastoreItem xmlns:ds="http://schemas.openxmlformats.org/officeDocument/2006/customXml" ds:itemID="{EE57FB73-0926-442C-A04E-738EC0471D6A}">
  <ds:schemaRefs>
    <ds:schemaRef ds:uri="http://schemas.microsoft.com/sharepoint/v3/contenttype/forms"/>
  </ds:schemaRefs>
</ds:datastoreItem>
</file>

<file path=customXml/itemProps3.xml><?xml version="1.0" encoding="utf-8"?>
<ds:datastoreItem xmlns:ds="http://schemas.openxmlformats.org/officeDocument/2006/customXml" ds:itemID="{3DEFA0CF-A241-4E68-9046-6521B29E4210}">
  <ds:schemaRefs>
    <ds:schemaRef ds:uri="1944d877-9a1e-4db1-a983-1f21fbccc5c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601</Words>
  <Application>Microsoft Office PowerPoint</Application>
  <PresentationFormat>Widescreen</PresentationFormat>
  <Paragraphs>51</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Frame</vt:lpstr>
      <vt:lpstr>Team magenta presents: OK Results</vt:lpstr>
      <vt:lpstr>Overview</vt:lpstr>
      <vt:lpstr>Personal Overview</vt:lpstr>
      <vt:lpstr>Key MVP Features </vt:lpstr>
      <vt:lpstr>Tech Stack</vt:lpstr>
      <vt:lpstr>Demonstration</vt:lpstr>
      <vt:lpstr>Moodboard and Wireframe</vt:lpstr>
      <vt:lpstr>PowerPoint Presentation</vt:lpstr>
      <vt:lpstr>Team Dynamics</vt:lpstr>
      <vt:lpstr>Project Takeaways</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Bartlett, Nathanael</dc:creator>
  <cp:lastModifiedBy>Bartlett, Nathanael</cp:lastModifiedBy>
  <cp:revision>2</cp:revision>
  <dcterms:created xsi:type="dcterms:W3CDTF">2026-03-08T22:56:26Z</dcterms:created>
  <dcterms:modified xsi:type="dcterms:W3CDTF">2026-03-11T06:56:50Z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0x01010085E8155E300D5B4AB96453B8BD1FB58A</vt:lpwstr>
  </property>
</Properties>
</file>